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18120" y="-274320"/>
            <a:ext cx="4663440" cy="7315200"/>
          </a:xfrm>
          <a:prstGeom prst="roundRect">
            <a:avLst>
              <a:gd name="adj" fmla="val 12000"/>
            </a:avLst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594360"/>
            <a:ext cx="1097280" cy="1097280"/>
          </a:xfrm>
          <a:prstGeom prst="ellipse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1234440"/>
            <a:ext cx="640080" cy="640080"/>
          </a:xfrm>
          <a:prstGeom prst="ellipse">
            <a:avLst/>
          </a:prstGeom>
          <a:solidFill>
            <a:srgbClr val="E8B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2286000"/>
            <a:ext cx="457200" cy="457200"/>
          </a:xfrm>
          <a:prstGeom prst="ellipse">
            <a:avLst/>
          </a:prstGeom>
          <a:solidFill>
            <a:srgbClr val="DD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0" y="2468880"/>
            <a:ext cx="594360" cy="594360"/>
          </a:xfrm>
          <a:prstGeom prst="ellipse">
            <a:avLst/>
          </a:prstGeom>
          <a:solidFill>
            <a:srgbClr val="C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95560" y="3657600"/>
            <a:ext cx="777240" cy="777240"/>
          </a:xfrm>
          <a:prstGeom prst="ellipse">
            <a:avLst/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6217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E8B24D"/>
                </a:solidFill>
                <a:latin typeface="Aptos"/>
              </a:rPr>
              <a:t>WEEK 02  /  BUILD &amp; DEMONSTRATE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858000" cy="22860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3400" b="1">
                <a:solidFill>
                  <a:srgbClr val="FFFDF9"/>
                </a:solidFill>
                <a:latin typeface="Aptos"/>
              </a:rPr>
              <a:t>Agentic AI
Debugging &amp; Test
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069080"/>
            <a:ext cx="6492240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600" b="0">
                <a:solidFill>
                  <a:srgbClr val="DCE2E9"/>
                </a:solidFill>
                <a:latin typeface="Aptos"/>
              </a:rPr>
              <a:t>From a command-line repair loop to a live Streamlit demonstration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1508760" cy="365760"/>
          </a:xfrm>
          <a:prstGeom prst="roundRect">
            <a:avLst>
              <a:gd name="adj" fmla="val 12000"/>
            </a:avLst>
          </a:prstGeom>
          <a:solidFill>
            <a:srgbClr val="E8B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184648"/>
            <a:ext cx="1417320" cy="1371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1C2736"/>
                </a:solidFill>
                <a:latin typeface="Aptos"/>
              </a:rPr>
              <a:t>CORE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074920"/>
            <a:ext cx="1508760" cy="365760"/>
          </a:xfrm>
          <a:prstGeom prst="roundRect">
            <a:avLst>
              <a:gd name="adj" fmla="val 12000"/>
            </a:avLst>
          </a:prstGeom>
          <a:solidFill>
            <a:srgbClr val="C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5184648"/>
            <a:ext cx="1417320" cy="1371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1C2736"/>
                </a:solidFill>
                <a:latin typeface="Aptos"/>
              </a:rPr>
              <a:t>PYTEST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5074920"/>
            <a:ext cx="1508760" cy="365760"/>
          </a:xfrm>
          <a:prstGeom prst="roundRect">
            <a:avLst>
              <a:gd name="adj" fmla="val 12000"/>
            </a:avLst>
          </a:prstGeom>
          <a:solidFill>
            <a:srgbClr val="DD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5184648"/>
            <a:ext cx="1417320" cy="1371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1C2736"/>
                </a:solidFill>
                <a:latin typeface="Aptos"/>
              </a:rPr>
              <a:t>STREAMLIT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649224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0">
                <a:solidFill>
                  <a:srgbClr val="FFFDF9"/>
                </a:solidFill>
                <a:latin typeface="Aptos"/>
              </a:rPr>
              <a:t>https://github.com/shobhis330/agentic-ai-debugging-test-automation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01 /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Less manual debugging. More verified iteration.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The prototype automates part of the test–diagnose–repair–retest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4983480" cy="333756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73152" cy="3337560"/>
          </a:xfrm>
          <a:prstGeom prst="rect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12264"/>
            <a:ext cx="466344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4663440" cy="273405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A test fails. A developer must inspect the error, locate the defect, edit the code, and run tests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65960"/>
            <a:ext cx="4983480" cy="333756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965960"/>
            <a:ext cx="73152" cy="333756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112264"/>
            <a:ext cx="466344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96312"/>
            <a:ext cx="4663440" cy="273405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Python runs tests; Gemini suggests a structured repair; pytest checks the updated solution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32461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E8B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3337560"/>
            <a:ext cx="4572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2200" b="1">
                <a:solidFill>
                  <a:srgbClr val="1C2736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EF6954"/>
                </a:solidFill>
                <a:latin typeface="Aptos"/>
              </a:rPr>
              <a:t>Passing tests is evidence only for the behaviors covered by the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02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The repair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A bounded loop with clear stop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874519" cy="91440"/>
          </a:xfrm>
          <a:prstGeom prst="rect">
            <a:avLst/>
          </a:prstGeom>
          <a:solidFill>
            <a:srgbClr val="C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9999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52928"/>
            <a:ext cx="16459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1C2736"/>
                </a:solidFill>
                <a:latin typeface="Aptos"/>
              </a:rPr>
              <a:t>RUN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1645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0">
                <a:solidFill>
                  <a:srgbClr val="656F7B"/>
                </a:solidFill>
                <a:latin typeface="Aptos"/>
              </a:rPr>
              <a:t>pytest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3317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2331720"/>
            <a:ext cx="1874519" cy="91440"/>
          </a:xfrm>
          <a:prstGeom prst="rect">
            <a:avLst/>
          </a:prstGeom>
          <a:solidFill>
            <a:srgbClr val="FFE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0088" y="2578608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9999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852928"/>
            <a:ext cx="16459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1C2736"/>
                </a:solidFill>
                <a:latin typeface="Aptos"/>
              </a:rPr>
              <a:t>READ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46120"/>
            <a:ext cx="1645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0">
                <a:solidFill>
                  <a:srgbClr val="656F7B"/>
                </a:solidFill>
                <a:latin typeface="Aptos"/>
              </a:rPr>
              <a:t>capture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3317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2331720"/>
            <a:ext cx="1874519" cy="91440"/>
          </a:xfrm>
          <a:prstGeom prst="rect">
            <a:avLst/>
          </a:prstGeom>
          <a:solidFill>
            <a:srgbClr val="DD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578608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999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852928"/>
            <a:ext cx="16459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1C2736"/>
                </a:solidFill>
                <a:latin typeface="Aptos"/>
              </a:rPr>
              <a:t>ASK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246120"/>
            <a:ext cx="1645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0">
                <a:solidFill>
                  <a:srgbClr val="656F7B"/>
                </a:solidFill>
                <a:latin typeface="Aptos"/>
              </a:rPr>
              <a:t>structured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3317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2331720"/>
            <a:ext cx="1874519" cy="91440"/>
          </a:xfrm>
          <a:prstGeom prst="rect">
            <a:avLst/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648" y="2578608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999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852928"/>
            <a:ext cx="16459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1C2736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246120"/>
            <a:ext cx="1645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0">
                <a:solidFill>
                  <a:srgbClr val="656F7B"/>
                </a:solidFill>
                <a:latin typeface="Aptos"/>
              </a:rPr>
              <a:t>syntax + save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331720"/>
            <a:ext cx="1874519" cy="132588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2331720"/>
            <a:ext cx="1874519" cy="91440"/>
          </a:xfrm>
          <a:prstGeom prst="rect">
            <a:avLst/>
          </a:prstGeom>
          <a:solidFill>
            <a:srgbClr val="FF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10928" y="2578608"/>
            <a:ext cx="36576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9999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852928"/>
            <a:ext cx="16459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1C2736"/>
                </a:solidFill>
                <a:latin typeface="Aptos"/>
              </a:rPr>
              <a:t>RETEST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3246120"/>
            <a:ext cx="1645920" cy="20116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0">
                <a:solidFill>
                  <a:srgbClr val="656F7B"/>
                </a:solidFill>
                <a:latin typeface="Aptos"/>
              </a:rPr>
              <a:t>pytest again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283464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83464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83464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83464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434340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4553712"/>
            <a:ext cx="173736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00" b="1">
                <a:solidFill>
                  <a:srgbClr val="26895B"/>
                </a:solidFill>
                <a:latin typeface="Aptos"/>
              </a:rPr>
              <a:t>PASS → FINISH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5257800"/>
            <a:ext cx="3017520" cy="594360"/>
          </a:xfrm>
          <a:prstGeom prst="roundRect">
            <a:avLst>
              <a:gd name="adj" fmla="val 12000"/>
            </a:avLst>
          </a:prstGeom>
          <a:solidFill>
            <a:srgbClr val="FF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06440" y="5449824"/>
            <a:ext cx="27432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1">
                <a:solidFill>
                  <a:srgbClr val="C84144"/>
                </a:solidFill>
                <a:latin typeface="Aptos"/>
              </a:rPr>
              <a:t>FAIL → repair again if retries remain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60720"/>
            <a:ext cx="45720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656F7B"/>
                </a:solidFill>
                <a:latin typeface="Aptos"/>
              </a:rPr>
              <a:t>Retry limit: 3 • stops endless attempts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How the components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The UI invokes the existing agent; it does not duplicate the repair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423160"/>
            <a:ext cx="1828800" cy="91440"/>
          </a:xfrm>
          <a:prstGeom prst="rect">
            <a:avLst/>
          </a:prstGeom>
          <a:solidFill>
            <a:srgbClr val="C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Aptos"/>
              </a:rPr>
              <a:t>select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4231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2423160"/>
            <a:ext cx="1828800" cy="91440"/>
          </a:xfrm>
          <a:prstGeom prst="rect">
            <a:avLst/>
          </a:prstGeom>
          <a:solidFill>
            <a:srgbClr val="DD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761488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00400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Aptos"/>
              </a:rPr>
              <a:t>app.py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4231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60" y="2423160"/>
            <a:ext cx="1828800" cy="91440"/>
          </a:xfrm>
          <a:prstGeom prst="rect">
            <a:avLst/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2761488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PYTHON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200400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Aptos"/>
              </a:rPr>
              <a:t>pytest + retries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231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2423160"/>
            <a:ext cx="1828800" cy="91440"/>
          </a:xfrm>
          <a:prstGeom prst="rect">
            <a:avLst/>
          </a:prstGeom>
          <a:solidFill>
            <a:srgbClr val="FFE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2761488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Aptos"/>
              </a:rPr>
              <a:t>repair 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242316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38360" y="2423160"/>
            <a:ext cx="1828800" cy="91440"/>
          </a:xfrm>
          <a:prstGeom prst="rect">
            <a:avLst/>
          </a:prstGeom>
          <a:solidFill>
            <a:srgbClr val="FF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2761488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200400"/>
            <a:ext cx="16459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Aptos"/>
              </a:rPr>
              <a:t>logs +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2944368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944368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944368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944368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700" b="1">
                <a:solidFill>
                  <a:srgbClr val="199991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434840"/>
            <a:ext cx="4754880" cy="96012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4434840"/>
            <a:ext cx="73152" cy="96012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581144"/>
            <a:ext cx="443484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STRUCTURED 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65192"/>
            <a:ext cx="4434840" cy="35661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bug_type • explanation • fixed_code • confidence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434840"/>
            <a:ext cx="4754880" cy="96012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46520" y="4434840"/>
            <a:ext cx="73152" cy="960120"/>
          </a:xfrm>
          <a:prstGeom prst="rect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581144"/>
            <a:ext cx="443484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65192"/>
            <a:ext cx="4434840" cy="35661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response fields • syntax check • test rerun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91440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656F7B"/>
                </a:solidFill>
                <a:latin typeface="Aptos"/>
              </a:rPr>
              <a:t>API credentials remain in Colab Secrets/environment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04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Structured JSON makes the repair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Predictable fields can be checked by the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3840480"/>
          </a:xfrm>
          <a:prstGeom prst="roundRect">
            <a:avLst>
              <a:gd name="adj" fmla="val 12000"/>
            </a:avLst>
          </a:prstGeom>
          <a:solidFill>
            <a:srgbClr val="1C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3891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E8B24D"/>
                </a:solidFill>
                <a:latin typeface="Aptos"/>
              </a:rPr>
              <a:t>REPAIR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DDD5FF"/>
                </a:solidFill>
                <a:latin typeface="Aptos"/>
              </a:rPr>
              <a:t>"bug_type":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743200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"logical_error"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CBE6F5"/>
                </a:solidFill>
                <a:latin typeface="Aptos"/>
              </a:rPr>
              <a:t>"explanation":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273552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"Incorrect denominator"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03904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D5F0E1"/>
                </a:solidFill>
                <a:latin typeface="Aptos"/>
              </a:rPr>
              <a:t>"fixed_code":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803904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"return total / len(numbers)"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34256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1">
                <a:solidFill>
                  <a:srgbClr val="E8B24D"/>
                </a:solidFill>
                <a:latin typeface="Aptos"/>
              </a:rPr>
              <a:t>"confidence":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334256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0.94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65960"/>
            <a:ext cx="4800600" cy="11430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965960"/>
            <a:ext cx="73152" cy="114300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112264"/>
            <a:ext cx="4480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1. 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96312"/>
            <a:ext cx="4480560" cy="5394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Read structured fields from Gemini.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4800600" cy="11430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383280"/>
            <a:ext cx="73152" cy="1143000"/>
          </a:xfrm>
          <a:prstGeom prst="rect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529584"/>
            <a:ext cx="4480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2.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13632"/>
            <a:ext cx="4480560" cy="5394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Check required fields, types, confidence and syntax.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800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4800600"/>
            <a:ext cx="73152" cy="914400"/>
          </a:xfrm>
          <a:prstGeom prst="rect">
            <a:avLst/>
          </a:prstGeom>
          <a:solidFill>
            <a:srgbClr val="26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946904"/>
            <a:ext cx="44805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3. RETEST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30952"/>
            <a:ext cx="4480560" cy="3108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Save candidate and run pytest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05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Three intentional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Cases cover a logic error, a boundary condition, and an undefined variable.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359152"/>
            <a:ext cx="731520" cy="320040"/>
          </a:xfrm>
          <a:prstGeom prst="roundRect">
            <a:avLst>
              <a:gd name="adj" fmla="val 12000"/>
            </a:avLst>
          </a:prstGeom>
          <a:solidFill>
            <a:srgbClr val="CB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450592"/>
            <a:ext cx="640080" cy="1188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1C2736"/>
                </a:solidFill>
                <a:latin typeface="Aptos"/>
              </a:rPr>
              <a:t>TC01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00" b="1">
                <a:solidFill>
                  <a:srgbClr val="1C2736"/>
                </a:solidFill>
                <a:latin typeface="Aptos"/>
              </a:rPr>
              <a:t>AVERAGE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9144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C84144"/>
                </a:solidFill>
                <a:latin typeface="Aptos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57600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FF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776472"/>
            <a:ext cx="28346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C84144"/>
                </a:solidFill>
                <a:latin typeface="Aptos"/>
              </a:rPr>
              <a:t>len(numbers) - 1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15968"/>
            <a:ext cx="1371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26895B"/>
                </a:solidFill>
                <a:latin typeface="Aptos"/>
              </a:rPr>
              <a:t>EXPECTED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690872"/>
            <a:ext cx="28346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26895B"/>
                </a:solidFill>
                <a:latin typeface="Aptos"/>
              </a:rPr>
              <a:t>len(numbers)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4568" y="21488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27448" y="2359152"/>
            <a:ext cx="731520" cy="320040"/>
          </a:xfrm>
          <a:prstGeom prst="roundRect">
            <a:avLst>
              <a:gd name="adj" fmla="val 12000"/>
            </a:avLst>
          </a:prstGeom>
          <a:solidFill>
            <a:srgbClr val="DD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64024" y="2450592"/>
            <a:ext cx="640080" cy="1188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1C2736"/>
                </a:solidFill>
                <a:latin typeface="Aptos"/>
              </a:rPr>
              <a:t>TC02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880360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00" b="1">
                <a:solidFill>
                  <a:srgbClr val="1C2736"/>
                </a:solidFill>
                <a:latin typeface="Aptos"/>
              </a:rPr>
              <a:t>AGE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401568"/>
            <a:ext cx="9144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C84144"/>
                </a:solidFill>
                <a:latin typeface="Aptos"/>
              </a:rPr>
              <a:t>BEFORE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7448" y="3657600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FF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3776472"/>
            <a:ext cx="28346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C84144"/>
                </a:solidFill>
                <a:latin typeface="Aptos"/>
              </a:rPr>
              <a:t>age &gt;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315968"/>
            <a:ext cx="1371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26895B"/>
                </a:solidFill>
                <a:latin typeface="Aptos"/>
              </a:rPr>
              <a:t>EXPECTED FIX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7448" y="4572000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4690872"/>
            <a:ext cx="28346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26895B"/>
                </a:solidFill>
                <a:latin typeface="Aptos"/>
              </a:rPr>
              <a:t>age &gt;= 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03336" y="21488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86215" y="2359152"/>
            <a:ext cx="731520" cy="320040"/>
          </a:xfrm>
          <a:prstGeom prst="roundRect">
            <a:avLst>
              <a:gd name="adj" fmla="val 12000"/>
            </a:avLst>
          </a:prstGeom>
          <a:solidFill>
            <a:srgbClr val="FFE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2450592"/>
            <a:ext cx="640080" cy="1188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900" b="1">
                <a:solidFill>
                  <a:srgbClr val="1C2736"/>
                </a:solidFill>
                <a:latin typeface="Aptos"/>
              </a:rPr>
              <a:t>TC03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5" y="2880360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00" b="1">
                <a:solidFill>
                  <a:srgbClr val="1C2736"/>
                </a:solidFill>
                <a:latin typeface="Aptos"/>
              </a:rPr>
              <a:t>UNDEFINED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5" y="3401568"/>
            <a:ext cx="9144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C84144"/>
                </a:solidFill>
                <a:latin typeface="Aptos"/>
              </a:rPr>
              <a:t>BEFORE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86215" y="3657600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FF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7656" y="3776472"/>
            <a:ext cx="28346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C84144"/>
                </a:solidFill>
                <a:latin typeface="Aptos"/>
              </a:rPr>
              <a:t>return tota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5" y="4315968"/>
            <a:ext cx="1371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26895B"/>
                </a:solidFill>
                <a:latin typeface="Aptos"/>
              </a:rPr>
              <a:t>EXPECTED FIX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6215" y="4572000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77656" y="4690872"/>
            <a:ext cx="28346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26895B"/>
                </a:solidFill>
                <a:latin typeface="Aptos"/>
              </a:rPr>
              <a:t>return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06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What the captured run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Separate confirmed results from cases still needing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5120640" cy="3108960"/>
          </a:xfrm>
          <a:prstGeom prst="roundRect">
            <a:avLst>
              <a:gd name="adj" fmla="val 12000"/>
            </a:avLst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432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99991"/>
                </a:solidFill>
                <a:latin typeface="Aptos"/>
              </a:rPr>
              <a:t>TC01 • CAPTURED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4114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26895B"/>
                </a:solidFill>
                <a:latin typeface="Aptos"/>
              </a:rPr>
              <a:t>4 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411480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0">
                <a:solidFill>
                  <a:srgbClr val="1C2736"/>
                </a:solidFill>
                <a:latin typeface="Aptos"/>
              </a:rPr>
              <a:t>Repair attempt: 1 of 3
First run failed; the next run passed.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57400"/>
            <a:ext cx="5120640" cy="310896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EF6954"/>
                </a:solidFill>
                <a:latin typeface="Aptos"/>
              </a:rPr>
              <a:t>TC02 + TC03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429768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100" b="1">
                <a:solidFill>
                  <a:srgbClr val="1C2736"/>
                </a:solidFill>
                <a:latin typeface="Aptos"/>
              </a:rPr>
              <a:t>Final verification 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114800" cy="8229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00" b="0">
                <a:solidFill>
                  <a:srgbClr val="656F7B"/>
                </a:solidFill>
                <a:latin typeface="Aptos"/>
              </a:rPr>
              <a:t>Buggy versions are restored and ready for separate runs. Capture their logs before claiming success.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0584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EF6954"/>
                </a:solidFill>
                <a:latin typeface="Aptos"/>
              </a:rPr>
              <a:t>3 controlled cases • MAX_RETRIES = 3 • Not a broad benchmark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07 / STREAMLIT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A browser-based control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UI was added early based on mentor direction and connected to the existing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949440" cy="3977639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6949440" cy="411480"/>
          </a:xfrm>
          <a:prstGeom prst="roundRect">
            <a:avLst>
              <a:gd name="adj" fmla="val 12000"/>
            </a:avLst>
          </a:prstGeom>
          <a:solidFill>
            <a:srgbClr val="1C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029968"/>
            <a:ext cx="91440" cy="91440"/>
          </a:xfrm>
          <a:prstGeom prst="ellipse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1288" y="2029968"/>
            <a:ext cx="91440" cy="91440"/>
          </a:xfrm>
          <a:prstGeom prst="ellipse">
            <a:avLst/>
          </a:prstGeom>
          <a:solidFill>
            <a:srgbClr val="E8B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2456" y="2029968"/>
            <a:ext cx="91440" cy="91440"/>
          </a:xfrm>
          <a:prstGeom prst="ellipse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53035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700" b="1">
                <a:solidFill>
                  <a:srgbClr val="1C2736"/>
                </a:solidFill>
                <a:latin typeface="Aptos"/>
              </a:rPr>
              <a:t>Agentic AI Debugging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246888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656F7B"/>
                </a:solidFill>
                <a:latin typeface="Aptos"/>
              </a:rPr>
              <a:t>Select evaluation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337560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3474720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1C2736"/>
                </a:solidFill>
                <a:latin typeface="Aptos"/>
              </a:rPr>
              <a:t>TC01  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337560"/>
            <a:ext cx="2377440" cy="438912"/>
          </a:xfrm>
          <a:prstGeom prst="roundRect">
            <a:avLst>
              <a:gd name="adj" fmla="val 12000"/>
            </a:avLst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39" y="3474720"/>
            <a:ext cx="21945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000" b="1">
                <a:solidFill>
                  <a:srgbClr val="FFFDF9"/>
                </a:solidFill>
                <a:latin typeface="Aptos"/>
              </a:rPr>
              <a:t>Run AI Debugging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210312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1C2736"/>
                </a:solidFill>
                <a:latin typeface="Aptos"/>
              </a:rPr>
              <a:t>Execution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407408"/>
            <a:ext cx="5943600" cy="548640"/>
          </a:xfrm>
          <a:prstGeom prst="roundRect">
            <a:avLst>
              <a:gd name="adj" fmla="val 12000"/>
            </a:avLst>
          </a:prstGeom>
          <a:solidFill>
            <a:srgbClr val="D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599432"/>
            <a:ext cx="557784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26895B"/>
                </a:solidFill>
                <a:latin typeface="Aptos"/>
              </a:rPr>
              <a:t>PASS  •  4 tests passed  •  1 repair attempt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6400800" cy="1828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0">
                <a:solidFill>
                  <a:srgbClr val="656F7B"/>
                </a:solidFill>
                <a:latin typeface="Aptos"/>
              </a:rPr>
              <a:t>Illustrative layout, not a screenshot of the actual 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057400"/>
            <a:ext cx="3337560" cy="100584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057400"/>
            <a:ext cx="73152" cy="100584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203704"/>
            <a:ext cx="301752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SELECT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87752"/>
            <a:ext cx="3017520" cy="40233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Choose TC01–TC03.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337560"/>
            <a:ext cx="3337560" cy="100584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337560"/>
            <a:ext cx="73152" cy="1005840"/>
          </a:xfrm>
          <a:prstGeom prst="rect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483864"/>
            <a:ext cx="301752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67911"/>
            <a:ext cx="3017520" cy="40233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Start agent and tests.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617720"/>
            <a:ext cx="3337560" cy="100584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4617720"/>
            <a:ext cx="73152" cy="1005840"/>
          </a:xfrm>
          <a:prstGeom prst="rect">
            <a:avLst/>
          </a:prstGeom>
          <a:solidFill>
            <a:srgbClr val="26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4764024"/>
            <a:ext cx="301752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148072"/>
            <a:ext cx="3017520" cy="40233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Logs, code, status, diff.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08 /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Project structure and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The files needed for the Week 2 demonstration are organized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4983480" cy="3474720"/>
          </a:xfrm>
          <a:prstGeom prst="roundRect">
            <a:avLst>
              <a:gd name="adj" fmla="val 12000"/>
            </a:avLst>
          </a:prstGeom>
          <a:solidFill>
            <a:srgbClr val="1C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38912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E8B24D"/>
                </a:solidFill>
                <a:latin typeface="Aptos"/>
              </a:rPr>
              <a:t>agentic-ai-debugging-test-automation/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389120" cy="2103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↳ debugging_agent.py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36392"/>
            <a:ext cx="4389120" cy="2103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↳ agent_cli.py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9584"/>
            <a:ext cx="4389120" cy="2103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↳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22776"/>
            <a:ext cx="4389120" cy="2103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↳ 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15968"/>
            <a:ext cx="4389120" cy="2103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↳ week2_evaluation_results.csv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4389120" cy="2103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FFFDF9"/>
                </a:solidFill>
                <a:latin typeface="Aptos"/>
              </a:rPr>
              <a:t>↳ evaluation_cases/ TC01 • TC02 • TC03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029200" cy="137160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148840"/>
            <a:ext cx="73152" cy="137160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295144"/>
            <a:ext cx="47091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GITHUB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9192"/>
            <a:ext cx="4709160" cy="76809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agentic-ai-debugging-test-automation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20"/>
            <a:ext cx="466344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199991"/>
                </a:solidFill>
                <a:latin typeface="Aptos"/>
              </a:rPr>
              <a:t>https://github.com/shobhis330/agentic-ai-debugging-test-automation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434840"/>
            <a:ext cx="5029200" cy="100584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4434840"/>
            <a:ext cx="73152" cy="1005840"/>
          </a:xfrm>
          <a:prstGeom prst="rect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581144"/>
            <a:ext cx="470916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SECRET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65192"/>
            <a:ext cx="4709160" cy="40233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Keep GEMINI_API_KEY out of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99991"/>
                </a:solidFill>
                <a:latin typeface="Aptos"/>
              </a:rPr>
              <a:t>09 /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2600" b="1">
                <a:solidFill>
                  <a:srgbClr val="1C2736"/>
                </a:solidFill>
                <a:latin typeface="Aptos"/>
              </a:rPr>
              <a:t>Week 2 milestone: working MVP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61872"/>
            <a:ext cx="10789920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00" b="0">
                <a:solidFill>
                  <a:srgbClr val="656F7B"/>
                </a:solidFill>
                <a:latin typeface="Aptos"/>
              </a:rPr>
              <a:t>The complete multi-week project is still in progress.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/>
            <a:r>
              <a:rPr sz="800" b="1">
                <a:solidFill>
                  <a:srgbClr val="656F7B"/>
                </a:solidFill>
                <a:latin typeface="Aptos"/>
              </a:rPr>
              <a:t>WEEK 02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74920" cy="260604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260604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47548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IMPLEMENTED / 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4754880" cy="200253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• Core agent loop + retry limit
• Structured repair response
• pytest execution
• Three prepared cases
• Connected Streamlit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074920" cy="2606040"/>
          </a:xfrm>
          <a:prstGeom prst="roundRect">
            <a:avLst>
              <a:gd name="adj" fmla="val 12000"/>
            </a:avLst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73152" cy="2606040"/>
          </a:xfrm>
          <a:prstGeom prst="rect">
            <a:avLst/>
          </a:prstGeom>
          <a:solidFill>
            <a:srgbClr val="EF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57984"/>
            <a:ext cx="475488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1C2736"/>
                </a:solidFill>
                <a:latin typeface="Aptos"/>
              </a:rPr>
              <a:t>NEXT TO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42032"/>
            <a:ext cx="4754880" cy="2002536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0">
                <a:solidFill>
                  <a:srgbClr val="656F7B"/>
                </a:solidFill>
                <a:latin typeface="Aptos"/>
              </a:rPr>
              <a:t>• Verify TC02 and TC03
• Record final results in CSV
• Expand toward 15 cases
• Week 3 knowledge/memory
• Strengthen execution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24128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100" b="1">
                <a:solidFill>
                  <a:srgbClr val="656F7B"/>
                </a:solidFill>
                <a:latin typeface="Aptos"/>
              </a:rPr>
              <a:t>UI was added early following mentor direction; the guideline places UI delivery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9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45720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000" b="1">
                <a:solidFill>
                  <a:srgbClr val="1C2736"/>
                </a:solidFill>
                <a:latin typeface="Aptos"/>
              </a:rPr>
              <a:t>WEEK 02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858000" cy="1508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3300" b="1">
                <a:solidFill>
                  <a:srgbClr val="FFFDF9"/>
                </a:solidFill>
                <a:latin typeface="Aptos"/>
              </a:rPr>
              <a:t>From a repair loop
to a live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713232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500" b="1">
                <a:solidFill>
                  <a:srgbClr val="1C2736"/>
                </a:solidFill>
                <a:latin typeface="Aptos"/>
              </a:rPr>
              <a:t>Core agent • Gemini • pytest • 3 bug cases • Streamlit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097280"/>
            <a:ext cx="3383280" cy="3383280"/>
          </a:xfrm>
          <a:prstGeom prst="roundRect">
            <a:avLst>
              <a:gd name="adj" fmla="val 12000"/>
            </a:avLst>
          </a:prstGeom>
          <a:solidFill>
            <a:srgbClr val="1C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32520" y="169164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1300" b="1">
                <a:solidFill>
                  <a:srgbClr val="E8B24D"/>
                </a:solidFill>
                <a:latin typeface="Aptos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240280"/>
            <a:ext cx="2560320" cy="1371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/>
            <a:r>
              <a:rPr sz="2400" b="1">
                <a:solidFill>
                  <a:srgbClr val="FFFDF9"/>
                </a:solidFill>
                <a:latin typeface="Aptos"/>
              </a:rPr>
              <a:t>Verify.
Evaluate.
Extend.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694944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900" b="1">
                <a:solidFill>
                  <a:srgbClr val="1C2736"/>
                </a:solidFill>
                <a:latin typeface="Aptos"/>
              </a:rPr>
              <a:t>https://github.com/shobhis330/agentic-ai-debugging-test-automation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500" b="1">
                <a:solidFill>
                  <a:srgbClr val="FFFDF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3447"/>
                </a:solidFill>
                <a:latin typeface="Aptos Display"/>
              </a:defRPr>
            </a:pPr>
            <a:r>
              <a:t>Live Streamlit Interface — Initial Test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05840" cy="54864"/>
          </a:xfrm>
          <a:prstGeom prst="rect">
            <a:avLst/>
          </a:prstGeom>
          <a:solidFill>
            <a:srgbClr val="F6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reenshot 2026-10-26 125937(1).png"/>
          <p:cNvPicPr>
            <a:picLocks noChangeAspect="1"/>
          </p:cNvPicPr>
          <p:nvPr/>
        </p:nvPicPr>
        <p:blipFill>
          <a:blip r:embed="rId2"/>
          <a:srcRect t="4466" b="5831"/>
          <a:stretch>
            <a:fillRect/>
          </a:stretch>
        </p:blipFill>
        <p:spPr>
          <a:xfrm>
            <a:off x="502920" y="978408"/>
            <a:ext cx="11155680" cy="48521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362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66573"/>
                </a:solidFill>
                <a:latin typeface="Aptos"/>
              </a:defRPr>
            </a:pPr>
            <a:r>
              <a:t>Actual application screenshot: TC01 begins with failing tests, showing the division-by-zero and incorrect-average defects.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3447"/>
                </a:solidFill>
                <a:latin typeface="Aptos Display"/>
              </a:defRPr>
            </a:pPr>
            <a:r>
              <a:t>Live Agent Run — Repair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005840" cy="54864"/>
          </a:xfrm>
          <a:prstGeom prst="rect">
            <a:avLst/>
          </a:prstGeom>
          <a:solidFill>
            <a:srgbClr val="F6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2362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66573"/>
                </a:solidFill>
                <a:latin typeface="Aptos"/>
              </a:defRPr>
            </a:pPr>
            <a:r>
              <a:t>Actual application screenshot: the agent identifies the averaging-logic bug, applies one repair attempt, and reports all four tests passing.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B77F3-6479-6B20-8CF5-917CAF224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09" r="1340" b="5559"/>
          <a:stretch>
            <a:fillRect/>
          </a:stretch>
        </p:blipFill>
        <p:spPr>
          <a:xfrm>
            <a:off x="502920" y="955104"/>
            <a:ext cx="11018520" cy="5061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877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Shobhitha Gowda</cp:lastModifiedBy>
  <cp:revision>2</cp:revision>
  <dcterms:created xsi:type="dcterms:W3CDTF">2013-01-27T09:14:16Z</dcterms:created>
  <dcterms:modified xsi:type="dcterms:W3CDTF">2026-10-26T07:41:39Z</dcterms:modified>
  <cp:category/>
</cp:coreProperties>
</file>