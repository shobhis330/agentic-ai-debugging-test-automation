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731520"/>
            <a:ext cx="4297680" cy="4297680"/>
          </a:xfrm>
          <a:prstGeom prst="ellipse">
            <a:avLst/>
          </a:prstGeom>
          <a:solidFill>
            <a:srgbClr val="1D3B69"/>
          </a:solidFill>
          <a:ln>
            <a:solidFill>
              <a:srgbClr val="1D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182880"/>
            <a:ext cx="2560320" cy="25603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777240"/>
            <a:ext cx="1371600" cy="137160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62179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6B6D4"/>
                </a:solidFill>
                <a:latin typeface="Aptos"/>
              </a:rPr>
              <a:t>WEEK 2 • CORE AGENT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046720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Agentic AI Software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Debugging &amp; Test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72237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CBD5E1"/>
                </a:solidFill>
                <a:latin typeface="Aptos"/>
              </a:rPr>
              <a:t>Gemini  •  pytest  •  Structured JSON  •  CLI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663440"/>
            <a:ext cx="5120640" cy="914400"/>
          </a:xfrm>
          <a:prstGeom prst="roundRect">
            <a:avLst/>
          </a:prstGeom>
          <a:solidFill>
            <a:srgbClr val="1E2D4D"/>
          </a:solidFill>
          <a:ln>
            <a:solidFill>
              <a:srgbClr val="334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4572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WEEK 2 PROJECT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38928"/>
            <a:ext cx="4572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D7E1F0"/>
                </a:solidFill>
                <a:latin typeface="Aptos"/>
              </a:rPr>
              <a:t>A controlled prototype: propose repairs, verify them with tests.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CBD5E1"/>
                </a:solidFill>
                <a:latin typeface="Aptos"/>
              </a:rPr>
              <a:t>WEEK 2 • CORE AGENT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The problem we are solving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Why automate the debugging loop?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73152" cy="1920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1. Find the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63240" cy="13533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Read test output and trace the failing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73152" cy="19202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10512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2. Propose a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063240" cy="13533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Understand the likely cause and write a candidate repair.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73152" cy="19202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10512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3. Verify the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063240" cy="13533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Rerun tests to check expected behavior.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8288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4213D"/>
                </a:solidFill>
                <a:latin typeface="Aptos"/>
              </a:rPr>
              <a:t>Project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1060704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937"/>
                </a:solidFill>
                <a:latin typeface="Aptos"/>
              </a:rPr>
              <a:t>Build a small agent that uses Gemini to propose repairs and pytest to verify them—rather than trusting the model's answer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WEEK 2 • CORE AGENT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Week 2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Core Agent (MVP) — internship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3566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4800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What we 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00600" cy="29992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Gemini API connection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pytest as an executable tool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Structured JSON repair response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Syntax and response validation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Maximum of 3 repair attempts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Standalone CLI and CSV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73152" cy="35661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19072"/>
            <a:ext cx="4800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What the demo 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800600" cy="29992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Three controlled bug cases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Each reset to a known buggy baseline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One Gemini repair attempt per case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Tests passed after repair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Simulated failure confirmed retry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Aptos"/>
              </a:rPr>
              <a:t>Scope boundary: Week 2 only. RAG, persistent memory and GUI are not claimed as completed.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WEEK 2 • CORE AGENT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Agent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Aptos"/>
              </a:rPr>
              <a:t>From failing test to verified repair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1325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874519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 • Select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240280"/>
            <a:ext cx="1819656" cy="8869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CLI loads solution</a:t>
            </a:r>
          </a:p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and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1965960" cy="132588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920240"/>
            <a:ext cx="1874519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 • Run pytest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2240280"/>
            <a:ext cx="1819656" cy="8869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Capture exit code</a:t>
            </a:r>
          </a:p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and failures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828800"/>
            <a:ext cx="1965960" cy="1325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20240"/>
            <a:ext cx="1874519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 • Ask 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2" y="2240280"/>
            <a:ext cx="1819656" cy="8869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Code + feedback</a:t>
            </a:r>
          </a:p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→ JSON repair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828800"/>
            <a:ext cx="1965960" cy="132588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920240"/>
            <a:ext cx="1874519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 • 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240280"/>
            <a:ext cx="1819656" cy="8869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Fields, function</a:t>
            </a:r>
          </a:p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name and syntax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828800"/>
            <a:ext cx="2148840" cy="13258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920240"/>
            <a:ext cx="2057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 • Re-test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240280"/>
            <a:ext cx="2002536" cy="8869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Save candidate;</a:t>
            </a:r>
          </a:p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Aptos"/>
              </a:rPr>
              <a:t>run pytest again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8880" y="2496312"/>
            <a:ext cx="27432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09160" y="2496312"/>
            <a:ext cx="27432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9440" y="2496312"/>
            <a:ext cx="27432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89720" y="2496312"/>
            <a:ext cx="27432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828800" y="4160520"/>
            <a:ext cx="3474720" cy="1005840"/>
          </a:xfrm>
          <a:prstGeom prst="roundRect">
            <a:avLst/>
          </a:prstGeom>
          <a:solidFill>
            <a:srgbClr val="1E2D4D"/>
          </a:solidFill>
          <a:ln>
            <a:solidFill>
              <a:srgbClr val="334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0" y="4160520"/>
            <a:ext cx="73152" cy="10058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4279392"/>
            <a:ext cx="3154679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If tests 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663440"/>
            <a:ext cx="3154679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D7E1F0"/>
                </a:solidFill>
                <a:latin typeface="Aptos"/>
              </a:rPr>
              <a:t>Return PASS and stop.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4160520"/>
            <a:ext cx="3657600" cy="1005840"/>
          </a:xfrm>
          <a:prstGeom prst="roundRect">
            <a:avLst/>
          </a:prstGeom>
          <a:solidFill>
            <a:srgbClr val="1E2D4D"/>
          </a:solidFill>
          <a:ln>
            <a:solidFill>
              <a:srgbClr val="334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4160520"/>
            <a:ext cx="73152" cy="10058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279392"/>
            <a:ext cx="33375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If tests still fail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663440"/>
            <a:ext cx="33375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D7E1F0"/>
                </a:solidFill>
                <a:latin typeface="Aptos"/>
              </a:rPr>
              <a:t>Retry up to 3 times; then stop.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29600" y="3182112"/>
            <a:ext cx="0" cy="932688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349240" y="4663440"/>
            <a:ext cx="123444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D7E1F0"/>
                </a:solidFill>
                <a:latin typeface="Aptos"/>
              </a:rPr>
              <a:t>Decision is based on pytest results—not Gemini confidence alone.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CBD5E1"/>
                </a:solidFill>
                <a:latin typeface="Aptos"/>
              </a:rPr>
              <a:t>WEEK 2 • CORE AGENT MVP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Small, explainable tools for a Week 2 MVP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5852160"/>
              </a:tblGrid>
              <a:tr h="5878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36576" marT="36576" marB="36576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Used for</a:t>
                      </a:r>
                    </a:p>
                  </a:txBody>
                  <a:tcPr marL="64008" marR="36576" marT="36576" marB="36576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Why it fits</a:t>
                      </a:r>
                    </a:p>
                  </a:txBody>
                  <a:tcPr marL="64008" marR="36576" marT="36576" marB="36576">
                    <a:solidFill>
                      <a:srgbClr val="14213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Python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Agent orchestration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Readable implementation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Gemini API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Repair suggestions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Interprets code and failure feedback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pytest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Test execution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Objective pass/fail signal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JSON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Structured response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Predictable fields for downstream logic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CLI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Run selected case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Simple end-to-end demonstration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CSV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Evaluation summary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Portable record of observed results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WEEK 2 • CORE AGENT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Structured JSON repair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Machine-readable output from Gemini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400800" cy="42062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5943600" cy="35661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Consolas"/>
              </a:rPr>
              <a:t>{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Consolas"/>
              </a:rPr>
              <a:t>  "bug_type": "NameError",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Consolas"/>
              </a:rPr>
              <a:t>  "explanation": "The variable 'tota' is undefined.",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Consolas"/>
              </a:rPr>
              <a:t>  "fixed_code": "def calculate_total(prices):\n    return sum(prices)",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Consolas"/>
              </a:rPr>
              <a:t>  "confidence": 1.0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69164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691640"/>
            <a:ext cx="73152" cy="1005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810512"/>
            <a:ext cx="3428999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bug_type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94560"/>
            <a:ext cx="3428999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Defect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88036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2880360"/>
            <a:ext cx="73152" cy="10058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999232"/>
            <a:ext cx="3428999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383280"/>
            <a:ext cx="3428999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Reason for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06908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4069080"/>
            <a:ext cx="73152" cy="10058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4187952"/>
            <a:ext cx="3428999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fixed_code +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572000"/>
            <a:ext cx="3428999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Candidate source and model-reported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Aptos"/>
              </a:rPr>
              <a:t>Confidence is model-reported; pytest remains the verification gate.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WEEK 2 • CORE AGENT 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Three bugs, three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Cases were reset to known buggy baselines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840480"/>
                <a:gridCol w="2834640"/>
                <a:gridCol w="2926080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 marL="64008" marR="36576" marT="36576" marB="36576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Bug</a:t>
                      </a:r>
                    </a:p>
                  </a:txBody>
                  <a:tcPr marL="64008" marR="36576" marT="36576" marB="36576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Initial test result</a:t>
                      </a:r>
                    </a:p>
                  </a:txBody>
                  <a:tcPr marL="64008" marR="36576" marT="36576" marB="36576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After repair</a:t>
                      </a:r>
                    </a:p>
                  </a:txBody>
                  <a:tcPr marL="64008" marR="36576" marT="36576" marB="36576">
                    <a:solidFill>
                      <a:srgbClr val="1421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TC01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Average divides by len − 1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4 failed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4 passed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TC02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age &gt; 18 excludes age 18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1 failed, 2 passed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3 passed</a:t>
                      </a:r>
                    </a:p>
                  </a:txBody>
                  <a:tcPr marL="64008" marR="36576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TC03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return tota (undefined name)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3 failed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</a:rPr>
                        <a:t>3 passed</a:t>
                      </a:r>
                    </a:p>
                  </a:txBody>
                  <a:tcPr marL="64008" marR="36576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61772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617720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36592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TC01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3063240" cy="4846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Off-by-one + empty-list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61772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4617720"/>
            <a:ext cx="73152" cy="10515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736592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TC02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120640"/>
            <a:ext cx="3063240" cy="4846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Boundary condition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61772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4617720"/>
            <a:ext cx="73152" cy="10515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4736592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TC03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5120640"/>
            <a:ext cx="3063240" cy="4846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NameError / undefined 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WEEK 2 • CORE AGENT 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Output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Aptos"/>
              </a:rPr>
              <a:t>Representative console results from completed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766560" cy="438912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6217920" cy="3931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1FAE5"/>
                </a:solidFill>
                <a:latin typeface="Consolas"/>
              </a:rPr>
              <a:t>TC01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D1FAE5"/>
                </a:solidFill>
                <a:latin typeface="Consolas"/>
              </a:rPr>
              <a:t>Test run 1: exit code 1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D1FAE5"/>
                </a:solidFill>
                <a:latin typeface="Consolas"/>
              </a:rPr>
              <a:t>4 failed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D1FAE5"/>
                </a:solidFill>
                <a:latin typeface="Consolas"/>
              </a:rPr>
              <a:t>Repair attempt 1/3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D1FAE5"/>
                </a:solidFill>
                <a:latin typeface="Consolas"/>
              </a:rPr>
              <a:t>Bug type: Logic Error and ZeroDivisionError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D1FAE5"/>
                </a:solidFill>
                <a:latin typeface="Consolas"/>
              </a:rPr>
              <a:t>Test run 2: exit code 0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D1FAE5"/>
                </a:solidFill>
                <a:latin typeface="Consolas"/>
              </a:rPr>
              <a:t>4 passed in 0.01s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D1FAE5"/>
                </a:solidFill>
                <a:latin typeface="Consolas"/>
              </a:rPr>
              <a:t>"status": "PASS"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D1FAE5"/>
                </a:solidFill>
                <a:latin typeface="Consolas"/>
              </a:rPr>
              <a:t>"repair_attempts":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737360"/>
            <a:ext cx="3383280" cy="1051560"/>
          </a:xfrm>
          <a:prstGeom prst="roundRect">
            <a:avLst/>
          </a:prstGeom>
          <a:solidFill>
            <a:srgbClr val="1E2D4D"/>
          </a:solidFill>
          <a:ln>
            <a:solidFill>
              <a:srgbClr val="334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737360"/>
            <a:ext cx="73152" cy="105156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856231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TC01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240280"/>
            <a:ext cx="3063240" cy="4846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D7E1F0"/>
                </a:solidFill>
                <a:latin typeface="Aptos"/>
              </a:rPr>
              <a:t>4/4 tests passed after repair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063240"/>
            <a:ext cx="3383280" cy="1051560"/>
          </a:xfrm>
          <a:prstGeom prst="roundRect">
            <a:avLst/>
          </a:prstGeom>
          <a:solidFill>
            <a:srgbClr val="1E2D4D"/>
          </a:solidFill>
          <a:ln>
            <a:solidFill>
              <a:srgbClr val="334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3063240"/>
            <a:ext cx="73152" cy="10515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182112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TC02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566160"/>
            <a:ext cx="3063240" cy="4846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D7E1F0"/>
                </a:solidFill>
                <a:latin typeface="Aptos"/>
              </a:rPr>
              <a:t>3/3 tests passed after repair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389120"/>
            <a:ext cx="3383280" cy="1051560"/>
          </a:xfrm>
          <a:prstGeom prst="roundRect">
            <a:avLst/>
          </a:prstGeom>
          <a:solidFill>
            <a:srgbClr val="1E2D4D"/>
          </a:solidFill>
          <a:ln>
            <a:solidFill>
              <a:srgbClr val="334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4389120"/>
            <a:ext cx="73152" cy="10515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4507992"/>
            <a:ext cx="30632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TC03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892040"/>
            <a:ext cx="3063240" cy="4846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D7E1F0"/>
                </a:solidFill>
                <a:latin typeface="Aptos"/>
              </a:rPr>
              <a:t>3/3 tests passed after repair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CBD5E1"/>
                </a:solidFill>
                <a:latin typeface="Aptos"/>
              </a:rPr>
              <a:t>WEEK 2 • CORE AGENT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Evaluation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Observed results from three controlled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1460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2331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563EB"/>
                </a:solidFill>
                <a:latin typeface="Aptos"/>
              </a:rPr>
              <a:t>3/3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3317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Aptos"/>
              </a:rPr>
              <a:t>cases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737360"/>
            <a:ext cx="251460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938528"/>
            <a:ext cx="2331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0F766E"/>
                </a:solidFill>
                <a:latin typeface="Aptos"/>
              </a:rPr>
              <a:t>10/10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560320"/>
            <a:ext cx="23317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Aptos"/>
              </a:rPr>
              <a:t>tests passed after repair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737360"/>
            <a:ext cx="251460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938528"/>
            <a:ext cx="2331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06B6D4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560320"/>
            <a:ext cx="23317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Aptos"/>
              </a:rPr>
              <a:t>repair attempts total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737360"/>
            <a:ext cx="251460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938528"/>
            <a:ext cx="2331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D97706"/>
                </a:solidFill>
                <a:latin typeface="Aptos"/>
              </a:rPr>
              <a:t>3 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560320"/>
            <a:ext cx="23317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Aptos"/>
              </a:rPr>
              <a:t>repair 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22860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213D"/>
                </a:solidFill>
                <a:latin typeface="Aptos"/>
              </a:rPr>
              <a:t>Retry-limit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1042416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F2937"/>
                </a:solidFill>
                <a:latin typeface="Aptos"/>
              </a:rPr>
              <a:t>A simulated invalid repair response was repeated three times. The agent stopped, returned False, and did not loop indefinitely.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94960"/>
            <a:ext cx="10332720" cy="502920"/>
          </a:xfrm>
          <a:prstGeom prst="roundRect">
            <a:avLst/>
          </a:prstGeom>
          <a:solidFill>
            <a:srgbClr val="FEF3C7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532120"/>
            <a:ext cx="10058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100% observed success is based on 3 hand-selected cases; it is not a broad reliability benchmark.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WEEK 2 • CORE AGENT 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How to run the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CLI commands and project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297680" cy="12801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Consolas"/>
              </a:rPr>
              <a:t>python agent_cli.py --case TC01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Consolas"/>
              </a:rPr>
              <a:t>python agent_cli.py --case TC02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Consolas"/>
              </a:rPr>
              <a:t>python agent_cli.py --case TC03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764792"/>
            <a:ext cx="49834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debugging_agent.py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498348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Gemini + pytest repair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74320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743200"/>
            <a:ext cx="73152" cy="914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862072"/>
            <a:ext cx="49834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agent_cli.py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46120"/>
            <a:ext cx="498348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CLI entry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84048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3840480"/>
            <a:ext cx="73152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959352"/>
            <a:ext cx="49834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evaluation_cases/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343400"/>
            <a:ext cx="498348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Three isolated solutions and test suites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93776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493776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5056632"/>
            <a:ext cx="498348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CSV + README.md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440680"/>
            <a:ext cx="498348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Results summary and project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WEEK 2 • CORE AGENT 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Safety, limitations and honest claims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What the prototype does—and does not—guarantee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1828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4800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Implemented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00600" cy="12618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Required JSON fields checked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Syntax validation before save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Function name checked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Maximum 3 repair attempts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API key kept out of source/output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73152" cy="1828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19072"/>
            <a:ext cx="4800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13D"/>
                </a:solidFill>
                <a:latin typeface="Aptos"/>
              </a:rPr>
              <a:t>Known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800600" cy="12618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Syntax does not prove correctness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Generated code runs under pytest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Not a secure sandbox for untrusted code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Tests may miss other defects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Aptos"/>
              </a:rPr>
              <a:t>• Only 3 controlled cases evaluated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213D"/>
                </a:solidFill>
                <a:latin typeface="Aptos"/>
              </a:rPr>
              <a:t>Not claimed as completed this week: RAG/embeddings, persistent memory, GUI, large-scale evaluation, production-grade isolation.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4241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Aptos"/>
              </a:rPr>
              <a:t>Next: improve portability and isolation, broaden coverage, and add richer logs.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WEEK 2 • CORE AGENT 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6B6D4"/>
                </a:solidFill>
                <a:latin typeface="Aptos"/>
              </a:rPr>
              <a:t>WEEK 2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7315200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A working core agent,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verified by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05256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D7E1F0"/>
                </a:solidFill>
                <a:latin typeface="Aptos"/>
              </a:rPr>
              <a:t>Gemini proposes the repair. pytest checks it. The retry limit keeps the loop bounded.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80"/>
            <a:ext cx="2926080" cy="1051560"/>
          </a:xfrm>
          <a:prstGeom prst="roundRect">
            <a:avLst/>
          </a:prstGeom>
          <a:solidFill>
            <a:srgbClr val="1E2D4D"/>
          </a:solidFill>
          <a:ln>
            <a:solidFill>
              <a:srgbClr val="334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53712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3 bug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4297680"/>
            <a:ext cx="2926080" cy="1051560"/>
          </a:xfrm>
          <a:prstGeom prst="roundRect">
            <a:avLst/>
          </a:prstGeom>
          <a:solidFill>
            <a:srgbClr val="1E2D4D"/>
          </a:solidFill>
          <a:ln>
            <a:solidFill>
              <a:srgbClr val="334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4553712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10 tests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297680"/>
            <a:ext cx="2926080" cy="1051560"/>
          </a:xfrm>
          <a:prstGeom prst="roundRect">
            <a:avLst/>
          </a:prstGeom>
          <a:solidFill>
            <a:srgbClr val="1E2D4D"/>
          </a:solidFill>
          <a:ln>
            <a:solidFill>
              <a:srgbClr val="334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4553712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3 repairs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27432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6B6D4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CBD5E1"/>
                </a:solidFill>
                <a:latin typeface="Aptos"/>
              </a:rPr>
              <a:t>WEEK 2 • CORE AGENT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Software Debugging and Test Automation System — Week 2</dc:title>
  <dc:subject>Core Agent MVP: Gemini, pytest, structured JSON, CLI</dc:subject>
  <dc:creator>Week 2 Project Report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